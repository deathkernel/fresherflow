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FresherFlow: from opportunity to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A career platform that connects freshers, employers, and platform administration.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01/11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42900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633472"/>
            <a:ext cx="297180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635BF5"/>
                </a:solidFill>
                <a:latin typeface="Aptos Display"/>
              </a:rPr>
              <a:t>FresherFlow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99232"/>
            <a:ext cx="29718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E4962"/>
                </a:solidFill>
                <a:latin typeface="Aptos"/>
              </a:rPr>
              <a:t>Discover · Apply · Review ·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331720"/>
            <a:ext cx="2423160" cy="114300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331720"/>
            <a:ext cx="64008" cy="114300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24048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2688336"/>
            <a:ext cx="2167128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Build a profile, find roles,
apply and track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2331720"/>
            <a:ext cx="2423160" cy="114300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2331720"/>
            <a:ext cx="64008" cy="114300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24048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EMPLOYER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688336"/>
            <a:ext cx="2167128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Publish vacancies and
review candidates.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51960"/>
            <a:ext cx="2880360" cy="91440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251960"/>
            <a:ext cx="64008" cy="91440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4325112"/>
            <a:ext cx="26334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41"/>
                </a:solidFill>
                <a:latin typeface="Aptos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4608576"/>
            <a:ext cx="2624328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50" b="0">
                <a:solidFill>
                  <a:srgbClr val="3E4962"/>
                </a:solidFill>
                <a:latin typeface="Aptos"/>
              </a:rPr>
              <a:t>Moderates vacancies and manages employer access.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37560" y="2834640"/>
            <a:ext cx="1005840" cy="0"/>
          </a:xfrm>
          <a:prstGeom prst="line">
            <a:avLst/>
          </a:prstGeom>
          <a:ln w="22860">
            <a:solidFill>
              <a:srgbClr val="3F7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01568" y="2706624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72034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3F7CDE"/>
                </a:solidFill>
                <a:latin typeface="Aptos"/>
              </a:rPr>
              <a:t>uses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0" y="2834640"/>
            <a:ext cx="987552" cy="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18704" y="2706624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2034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2DAE89"/>
                </a:solidFill>
                <a:latin typeface="Aptos"/>
              </a:rPr>
              <a:t>hires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529584"/>
            <a:ext cx="0" cy="68580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641848" y="3744468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58184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635BF5"/>
                </a:solidFill>
                <a:latin typeface="Aptos"/>
              </a:rPr>
              <a:t>governs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66360"/>
            <a:ext cx="310896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E4962"/>
                </a:solidFill>
                <a:latin typeface="Aptos"/>
              </a:rPr>
              <a:t>Core scope: internships and entry-level 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166360"/>
            <a:ext cx="29260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3E4962"/>
                </a:solidFill>
                <a:latin typeface="Aptos"/>
              </a:rPr>
              <a:t>One shared opportunity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WHY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A clearer path through early-career hiring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A qualitative problem-to-solution map—no invented impact statistics.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02/11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4069080" cy="4069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2057400"/>
            <a:ext cx="1234440" cy="265176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071116"/>
            <a:ext cx="116128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CD5D63"/>
                </a:solidFill>
                <a:latin typeface="Aptos"/>
              </a:rPr>
              <a:t>CHALLENGES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606040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606040"/>
            <a:ext cx="64008" cy="694944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3" y="2679192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Scattered opportunity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3" y="2962656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Students look for internships and entry-level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493008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493008"/>
            <a:ext cx="64008" cy="694944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3" y="3566160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Disconnected application 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3" y="3849624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Progress can be hard to keep organized.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379976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4379976"/>
            <a:ext cx="64008" cy="694944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3" y="4453128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Hiring work across separate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7863" y="4736592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Employers need a place to manage vacancies and applicants.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828800"/>
            <a:ext cx="4069080" cy="4069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2057400"/>
            <a:ext cx="1143000" cy="265176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2071116"/>
            <a:ext cx="106984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AE89"/>
                </a:solidFill>
                <a:latin typeface="Aptos"/>
              </a:rPr>
              <a:t>SOLUTION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606040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2606040"/>
            <a:ext cx="64008" cy="694944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35824" y="2679192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One opportunity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4" y="2962656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Browse internships and entry-level jobs.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493008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3493008"/>
            <a:ext cx="64008" cy="694944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35824" y="3566160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Application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4" y="3849624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See statuses in a single student area.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4379976"/>
            <a:ext cx="3520440" cy="694944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89520" y="4379976"/>
            <a:ext cx="64008" cy="694944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5824" y="4453128"/>
            <a:ext cx="32735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Structured hiring + moderation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4736592"/>
            <a:ext cx="3264408" cy="3017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Employer workflows with admin review.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83480" y="2788920"/>
            <a:ext cx="214884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618988" y="2660903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46420" y="267462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635BF5"/>
                </a:solidFill>
                <a:latin typeface="Aptos"/>
              </a:rPr>
              <a:t>organize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83480" y="3703320"/>
            <a:ext cx="214884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618988" y="3575303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46420" y="358902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635BF5"/>
                </a:solidFill>
                <a:latin typeface="Aptos"/>
              </a:rPr>
              <a:t>connect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83480" y="4617720"/>
            <a:ext cx="214884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618988" y="4489704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46420" y="450342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635BF5"/>
                </a:solidFill>
                <a:latin typeface="Aptos"/>
              </a:rPr>
              <a:t>coordinate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669280"/>
            <a:ext cx="32004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35BF5"/>
                </a:solidFill>
                <a:latin typeface="Aptos"/>
              </a:rPr>
              <a:t>Problem → workflow →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PLATFORM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Three roles, connected by 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Each role has a different responsibility; admin moderation helps govern what becomes discoverable.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03/11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65960"/>
            <a:ext cx="3154680" cy="105156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65960"/>
            <a:ext cx="64008" cy="105156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039112"/>
            <a:ext cx="29077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22576"/>
            <a:ext cx="289864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Profile • Resume • Discover • Save • Apply • 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965960"/>
            <a:ext cx="3154680" cy="105156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965960"/>
            <a:ext cx="64008" cy="105156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2039112"/>
            <a:ext cx="29077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FRESHERFLOW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322576"/>
            <a:ext cx="289864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Vacancies • Applications • Status •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3154680" cy="105156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65960"/>
            <a:ext cx="64008" cy="105156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2039112"/>
            <a:ext cx="29077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EMPLOYER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322576"/>
            <a:ext cx="289864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Organization • Vacancies • Applicant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05072" y="2487168"/>
            <a:ext cx="475488" cy="0"/>
          </a:xfrm>
          <a:prstGeom prst="line">
            <a:avLst/>
          </a:prstGeom>
          <a:ln w="22860">
            <a:solidFill>
              <a:srgbClr val="3F7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03904" y="2359152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1336" y="2372868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3F7CDE"/>
                </a:solidFill>
                <a:latin typeface="Aptos"/>
              </a:rPr>
              <a:t>profile/apply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08392" y="2487168"/>
            <a:ext cx="475487" cy="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07223" y="2359152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4656" y="2372868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2DAE89"/>
                </a:solidFill>
                <a:latin typeface="Aptos"/>
              </a:rPr>
              <a:t>vacancy/review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977639"/>
            <a:ext cx="3154680" cy="1005840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3977639"/>
            <a:ext cx="64008" cy="1005840"/>
          </a:xfrm>
          <a:prstGeom prst="rect">
            <a:avLst/>
          </a:prstGeom>
          <a:solidFill>
            <a:srgbClr val="D0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4" y="4050791"/>
            <a:ext cx="29077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41"/>
                </a:solidFill>
                <a:latin typeface="Aptos"/>
              </a:rPr>
              <a:t>ADMIN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4334255"/>
            <a:ext cx="2898648" cy="6126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60" b="0">
                <a:solidFill>
                  <a:srgbClr val="3E4962"/>
                </a:solidFill>
                <a:latin typeface="Aptos"/>
              </a:rPr>
              <a:t>Approve/reject vacancies • Manage employer access • Inspect applications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9048" y="3054096"/>
            <a:ext cx="0" cy="877824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0120" y="3886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E4962"/>
                </a:solidFill>
                <a:latin typeface="Aptos"/>
              </a:rPr>
              <a:t>Student sees eligible openings
and follows own applications.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86200"/>
            <a:ext cx="283464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E4962"/>
                </a:solidFill>
                <a:latin typeface="Aptos"/>
              </a:rPr>
              <a:t>Employer manages its vacancies
and application decisions.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394960"/>
            <a:ext cx="9921240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477256"/>
            <a:ext cx="9555480" cy="3017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35BF5"/>
                </a:solidFill>
                <a:latin typeface="Aptos"/>
              </a:rPr>
              <a:t>Role-based workspaces keep student, employer, and admin actions separate.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STUDENT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From profile to application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A student's path through the main website features.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04/11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68880"/>
            <a:ext cx="169164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615184"/>
            <a:ext cx="347472" cy="347472"/>
          </a:xfrm>
          <a:prstGeom prst="ellipse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347472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F7CDE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35808"/>
            <a:ext cx="1481328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C2641"/>
                </a:solidFill>
                <a:latin typeface="Aptos"/>
              </a:rPr>
              <a:t>BUILD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46704"/>
            <a:ext cx="1481328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3E4962"/>
                </a:solidFill>
                <a:latin typeface="Aptos"/>
              </a:rPr>
              <a:t>Education, skills,
certifications, preferences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68880"/>
            <a:ext cx="169164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54679" y="2615184"/>
            <a:ext cx="347472" cy="347472"/>
          </a:xfrm>
          <a:prstGeom prst="ellipse">
            <a:avLst/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2624328"/>
            <a:ext cx="347472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35BF5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035808"/>
            <a:ext cx="1481328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C2641"/>
                </a:solidFill>
                <a:latin typeface="Aptos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346704"/>
            <a:ext cx="1481328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3E4962"/>
                </a:solidFill>
                <a:latin typeface="Aptos"/>
              </a:rPr>
              <a:t>Search eligible
opportunities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468880"/>
            <a:ext cx="169164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94960" y="2615184"/>
            <a:ext cx="347472" cy="347472"/>
          </a:xfrm>
          <a:prstGeom prst="ellipse">
            <a:avLst/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624328"/>
            <a:ext cx="347472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DAE89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035808"/>
            <a:ext cx="1481328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C2641"/>
                </a:solidFill>
                <a:latin typeface="Aptos"/>
              </a:rPr>
              <a:t>SAVE OR 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346704"/>
            <a:ext cx="1481328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3E4962"/>
                </a:solidFill>
                <a:latin typeface="Aptos"/>
              </a:rPr>
              <a:t>Keep a role for later
or submit an application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468880"/>
            <a:ext cx="169164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2615184"/>
            <a:ext cx="347472" cy="347472"/>
          </a:xfrm>
          <a:prstGeom prst="ellipse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624328"/>
            <a:ext cx="347472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D0912A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3035808"/>
            <a:ext cx="1481328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C2641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3346704"/>
            <a:ext cx="1481328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3E4962"/>
                </a:solidFill>
                <a:latin typeface="Aptos"/>
              </a:rPr>
              <a:t>Review current
application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468880"/>
            <a:ext cx="169164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75520" y="2615184"/>
            <a:ext cx="347472" cy="347472"/>
          </a:xfrm>
          <a:prstGeom prst="ellipse">
            <a:avLst/>
          </a:prstGeom>
          <a:solidFill>
            <a:srgbClr val="FF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2624328"/>
            <a:ext cx="347472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CD5D63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035808"/>
            <a:ext cx="1481328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C2641"/>
                </a:solidFill>
                <a:latin typeface="Aptos"/>
              </a:rPr>
              <a:t>FOLLOW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3346704"/>
            <a:ext cx="1481328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3E4962"/>
                </a:solidFill>
                <a:latin typeface="Aptos"/>
              </a:rPr>
              <a:t>Use status to understand
where things stand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42032" y="3200400"/>
            <a:ext cx="41148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82312" y="3200400"/>
            <a:ext cx="41148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22592" y="3200400"/>
            <a:ext cx="411479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62872" y="3200400"/>
            <a:ext cx="41148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51560" y="4617720"/>
            <a:ext cx="10058400" cy="713232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5880" y="4745736"/>
            <a:ext cx="9509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35BF5"/>
                </a:solidFill>
                <a:latin typeface="Aptos"/>
              </a:rPr>
              <a:t>Resume support: upload or replace a PDF, DOC, or DOCX file (maximum 5 MB).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623560"/>
            <a:ext cx="996696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E4962"/>
                </a:solidFill>
                <a:latin typeface="Aptos"/>
              </a:rPr>
              <a:t>Application statuses include Applied, Shortlisted, Selected, and Rejected.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DISCOVERY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Not every vacancy is shown to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The platform filters by both user-selected criteria and eligibility conditions.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05/11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291840" cy="530352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0175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635BF5"/>
                </a:solidFill>
                <a:latin typeface="Aptos"/>
              </a:rPr>
              <a:t>Vacancy submitted by employer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331720"/>
            <a:ext cx="0" cy="320040"/>
          </a:xfrm>
          <a:prstGeom prst="line">
            <a:avLst/>
          </a:prstGeom>
          <a:ln w="2032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697480"/>
            <a:ext cx="21031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79776"/>
            <a:ext cx="1956816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40" b="1">
                <a:solidFill>
                  <a:srgbClr val="1C2641"/>
                </a:solidFill>
                <a:latin typeface="Aptos"/>
              </a:rPr>
              <a:t>Employer active?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" y="3136392"/>
            <a:ext cx="896112" cy="265176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150108"/>
            <a:ext cx="82296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3F7CDE"/>
                </a:solidFill>
                <a:latin typeface="Aptos"/>
              </a:rP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97480"/>
            <a:ext cx="21031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2779776"/>
            <a:ext cx="1956816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40" b="1">
                <a:solidFill>
                  <a:srgbClr val="1C2641"/>
                </a:solidFill>
                <a:latin typeface="Aptos"/>
              </a:rPr>
              <a:t>Vacancy approved?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3136392"/>
            <a:ext cx="896112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150108"/>
            <a:ext cx="82296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97480"/>
            <a:ext cx="21031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779776"/>
            <a:ext cx="1956816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40" b="1">
                <a:solidFill>
                  <a:srgbClr val="1C2641"/>
                </a:solidFill>
                <a:latin typeface="Aptos"/>
              </a:rPr>
              <a:t>Vacancy active?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4304" y="3136392"/>
            <a:ext cx="896112" cy="265176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150108"/>
            <a:ext cx="82296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AE89"/>
                </a:solidFill>
                <a:latin typeface="Aptos"/>
              </a:rP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697480"/>
            <a:ext cx="21031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2779776"/>
            <a:ext cx="1956816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40" b="1">
                <a:solidFill>
                  <a:srgbClr val="1C2641"/>
                </a:solidFill>
                <a:latin typeface="Aptos"/>
              </a:rPr>
              <a:t>Deadline valid?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3136392"/>
            <a:ext cx="896112" cy="265176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150108"/>
            <a:ext cx="82296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D0912A"/>
                </a:solidFill>
                <a:latin typeface="Aptos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17520" y="3090672"/>
            <a:ext cx="594359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60720" y="3090672"/>
            <a:ext cx="59436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03920" y="3090672"/>
            <a:ext cx="594360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95560" y="3520440"/>
            <a:ext cx="0" cy="41148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61120" y="3950208"/>
            <a:ext cx="2468880" cy="59436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4041648"/>
            <a:ext cx="22402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DAE89"/>
                </a:solidFill>
                <a:latin typeface="Aptos"/>
              </a:rPr>
              <a:t>Eligible to be listed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114800"/>
            <a:ext cx="7132320" cy="749808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224528"/>
            <a:ext cx="676656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CD5D63"/>
                </a:solidFill>
                <a:latin typeface="Aptos"/>
              </a:rPr>
              <a:t>If a condition fails, the vacancy is not displayed as an eligible opportunity.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20116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7C879B"/>
                </a:solidFill>
                <a:latin typeface="Aptos"/>
              </a:rPr>
              <a:t>Then students refine results by: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88920" y="5257800"/>
            <a:ext cx="1280160" cy="265176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25496" y="5271516"/>
            <a:ext cx="120700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3F7CDE"/>
                </a:solidFill>
                <a:latin typeface="Aptos"/>
              </a:rPr>
              <a:t>Keyword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257800"/>
            <a:ext cx="1280160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5" y="5271516"/>
            <a:ext cx="120700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Type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06440" y="5257800"/>
            <a:ext cx="1280160" cy="265176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3016" y="5271516"/>
            <a:ext cx="120700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AE89"/>
                </a:solidFill>
                <a:latin typeface="Aptos"/>
              </a:rPr>
              <a:t>Location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199" y="5257800"/>
            <a:ext cx="1280160" cy="265176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51775" y="5271516"/>
            <a:ext cx="120700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D0912A"/>
                </a:solidFill>
                <a:latin typeface="Aptos"/>
              </a:rPr>
              <a:t>Skill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23959" y="5257800"/>
            <a:ext cx="1280160" cy="265176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0535" y="5271516"/>
            <a:ext cx="120700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CD5D63"/>
                </a:solidFill>
                <a:latin typeface="Aptos"/>
              </a:rPr>
              <a:t>Sort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EMPLOYER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From vacancy creation to candidate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Employers can manage a vacancy individually or import a batch from Excel.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06/11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057400" cy="105156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64008" cy="105156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947672"/>
            <a:ext cx="1810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CREATE VACANCY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231136"/>
            <a:ext cx="180136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Title, type, location,
salary, skills, eligibility,
deadline, 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74519"/>
            <a:ext cx="2057400" cy="105156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874519"/>
            <a:ext cx="64008" cy="105156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947672"/>
            <a:ext cx="1810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OR EXCEL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231136"/>
            <a:ext cx="180136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Batch import supports
up to 100 vacancies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874519"/>
            <a:ext cx="2057400" cy="1051560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1874519"/>
            <a:ext cx="64008" cy="1051560"/>
          </a:xfrm>
          <a:prstGeom prst="rect">
            <a:avLst/>
          </a:prstGeom>
          <a:solidFill>
            <a:srgbClr val="D0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1947672"/>
            <a:ext cx="1810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ADMIN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2231136"/>
            <a:ext cx="180136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Vacancy goes through
moderation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874519"/>
            <a:ext cx="2697480" cy="105156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1874519"/>
            <a:ext cx="64008" cy="105156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1947672"/>
            <a:ext cx="24505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MANAGE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2231136"/>
            <a:ext cx="244144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Review candidate submissions
and update statuses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52928" y="2395728"/>
            <a:ext cx="347472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30952" y="2395728"/>
            <a:ext cx="429768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106923" y="2267712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4355" y="2281428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635BF5"/>
                </a:solidFill>
                <a:latin typeface="Aptos"/>
              </a:rPr>
              <a:t>submit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91272" y="2395728"/>
            <a:ext cx="429768" cy="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67244" y="2267712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4676" y="2281428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2DAE89"/>
                </a:solidFill>
                <a:latin typeface="Aptos"/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Vacancy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160520"/>
            <a:ext cx="2011680" cy="265176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" y="4174235"/>
            <a:ext cx="193852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3F7CDE"/>
                </a:solidFill>
                <a:latin typeface="Aptos"/>
              </a:rPr>
              <a:t>Draft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90088" y="4288536"/>
            <a:ext cx="603503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703320" y="4160520"/>
            <a:ext cx="2011680" cy="265176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9896" y="4174235"/>
            <a:ext cx="193852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D0912A"/>
                </a:solidFill>
                <a:latin typeface="Aptos"/>
              </a:rPr>
              <a:t>Pending review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33288" y="4288536"/>
            <a:ext cx="603504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6520" y="4160520"/>
            <a:ext cx="2011680" cy="265176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3096" y="4174235"/>
            <a:ext cx="193852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DAE89"/>
                </a:solidFill>
                <a:latin typeface="Aptos"/>
              </a:rPr>
              <a:t>Active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76488" y="4288536"/>
            <a:ext cx="603504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189720" y="4160520"/>
            <a:ext cx="2011680" cy="265176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26296" y="4174235"/>
            <a:ext cx="1938528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CD5D63"/>
                </a:solidFill>
                <a:latin typeface="Aptos"/>
              </a:rPr>
              <a:t>Closed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074920"/>
            <a:ext cx="1028700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02936"/>
            <a:ext cx="9829800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E4962"/>
                </a:solidFill>
                <a:latin typeface="Aptos"/>
              </a:rPr>
              <a:t>The employer workspace connects vacancy management with applications for its 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ADMIN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Review before a vacancy reaches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Moderation and employer-account controls are part of the platform workflow.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07/11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74720" cy="59436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92807"/>
            <a:ext cx="3200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635BF5"/>
                </a:solidFill>
                <a:latin typeface="Aptos"/>
              </a:rPr>
              <a:t>Pending vacancy submitted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377440"/>
            <a:ext cx="0" cy="347472"/>
          </a:xfrm>
          <a:prstGeom prst="line">
            <a:avLst/>
          </a:prstGeom>
          <a:ln w="2032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4983480" y="2724912"/>
            <a:ext cx="2194560" cy="1143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635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3017520"/>
            <a:ext cx="160020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2641"/>
                </a:solidFill>
                <a:latin typeface="Aptos"/>
              </a:rPr>
              <a:t>Admin
review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429000" y="3291840"/>
            <a:ext cx="1554480" cy="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86200" y="2999232"/>
            <a:ext cx="77724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2DAE89"/>
                </a:solidFill>
                <a:latin typeface="Aptos"/>
              </a:rPr>
              <a:t>Approve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3291840"/>
            <a:ext cx="1508760" cy="0"/>
          </a:xfrm>
          <a:prstGeom prst="line">
            <a:avLst/>
          </a:prstGeom>
          <a:ln w="22860">
            <a:solidFill>
              <a:srgbClr val="CD5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52360" y="2999232"/>
            <a:ext cx="77724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CD5D63"/>
                </a:solidFill>
                <a:latin typeface="Aptos"/>
              </a:rPr>
              <a:t>Reject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611880"/>
            <a:ext cx="2743200" cy="77724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3611880"/>
            <a:ext cx="64008" cy="77724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3685032"/>
            <a:ext cx="24963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968496"/>
            <a:ext cx="248716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Can become discoverable if active and valid.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611880"/>
            <a:ext cx="2743200" cy="777240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3611880"/>
            <a:ext cx="64008" cy="777240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3685032"/>
            <a:ext cx="24963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REJECTED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968496"/>
            <a:ext cx="248716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Not shown as an approved opportunity.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709160"/>
            <a:ext cx="3291840" cy="777240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709160"/>
            <a:ext cx="64008" cy="777240"/>
          </a:xfrm>
          <a:prstGeom prst="rect">
            <a:avLst/>
          </a:prstGeom>
          <a:solidFill>
            <a:srgbClr val="D0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4782312"/>
            <a:ext cx="304495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EMPLOYER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5065776"/>
            <a:ext cx="303580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00" b="0">
                <a:solidFill>
                  <a:srgbClr val="3E4962"/>
                </a:solidFill>
                <a:latin typeface="Aptos"/>
              </a:rPr>
              <a:t>Activate or suspend employer accounts.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886200"/>
            <a:ext cx="0" cy="777240"/>
          </a:xfrm>
          <a:prstGeom prst="line">
            <a:avLst/>
          </a:prstGeom>
          <a:ln w="1905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" y="4892040"/>
            <a:ext cx="292608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3E4962"/>
                </a:solidFill>
                <a:latin typeface="Aptos"/>
              </a:rPr>
              <a:t>Admins can also inspect applications
and review platform activity.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92040"/>
            <a:ext cx="301752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3E4962"/>
                </a:solidFill>
                <a:latin typeface="Aptos"/>
              </a:rPr>
              <a:t>Admin actions are recorded in
audit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APPLICATION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One application, multiple possible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Status changes reflect employer review; they are not automatic transitions.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08/11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2103120" cy="841248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3F7CDE"/>
                </a:solidFill>
                <a:latin typeface="Aptos"/>
              </a:rPr>
              <a:t>APPLIED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971800"/>
            <a:ext cx="1143000" cy="0"/>
          </a:xfrm>
          <a:prstGeom prst="line">
            <a:avLst/>
          </a:prstGeom>
          <a:ln w="2159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9080" y="2148840"/>
            <a:ext cx="0" cy="2103120"/>
          </a:xfrm>
          <a:prstGeom prst="line">
            <a:avLst/>
          </a:prstGeom>
          <a:ln w="2159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69080" y="2194560"/>
            <a:ext cx="502920" cy="0"/>
          </a:xfrm>
          <a:prstGeom prst="line">
            <a:avLst/>
          </a:prstGeom>
          <a:ln w="2159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17720" y="1874519"/>
            <a:ext cx="2423160" cy="68580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874519"/>
            <a:ext cx="64008" cy="68580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1947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SHORTLISTED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231136"/>
            <a:ext cx="2167128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Candidate moves forward
for further consideration.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9080" y="3337560"/>
            <a:ext cx="502920" cy="0"/>
          </a:xfrm>
          <a:prstGeom prst="line">
            <a:avLst/>
          </a:prstGeom>
          <a:ln w="2159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3017520"/>
            <a:ext cx="2423160" cy="68580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017520"/>
            <a:ext cx="64008" cy="68580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3090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SELECTED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024" y="3374136"/>
            <a:ext cx="2167128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Employer records a
selection decision.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4480559"/>
            <a:ext cx="502920" cy="0"/>
          </a:xfrm>
          <a:prstGeom prst="line">
            <a:avLst/>
          </a:prstGeom>
          <a:ln w="21590">
            <a:solidFill>
              <a:srgbClr val="CD5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17720" y="4160520"/>
            <a:ext cx="2423160" cy="685800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160520"/>
            <a:ext cx="64008" cy="685800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4233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REJECTED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4517136"/>
            <a:ext cx="2167128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Employer records a
negative outcome.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24028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240280"/>
            <a:ext cx="64008" cy="91440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4" y="2313432"/>
            <a:ext cx="299923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EMPLOYER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2596896"/>
            <a:ext cx="29900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50" b="0">
                <a:solidFill>
                  <a:srgbClr val="3E4962"/>
                </a:solidFill>
                <a:latin typeface="Aptos"/>
              </a:rPr>
              <a:t>Reviews candidate information and updates status.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7033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3703320"/>
            <a:ext cx="64008" cy="91440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3776472"/>
            <a:ext cx="299923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STUDENT TRACKER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4" y="4059935"/>
            <a:ext cx="29900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50" b="0">
                <a:solidFill>
                  <a:srgbClr val="3E4962"/>
                </a:solidFill>
                <a:latin typeface="Aptos"/>
              </a:rPr>
              <a:t>Shows the current recorded application status.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9520" y="2697480"/>
            <a:ext cx="201168" cy="0"/>
          </a:xfrm>
          <a:prstGeom prst="line">
            <a:avLst/>
          </a:prstGeom>
          <a:ln w="1905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89520" y="4160520"/>
            <a:ext cx="201168" cy="0"/>
          </a:xfrm>
          <a:prstGeom prst="line">
            <a:avLst/>
          </a:prstGeom>
          <a:ln w="19050">
            <a:solidFill>
              <a:srgbClr val="3F7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09560" y="4983480"/>
            <a:ext cx="301752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E4962"/>
                </a:solidFill>
                <a:latin typeface="Aptos"/>
              </a:rPr>
              <a:t>The tracker makes the outcome visible to the student.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FEATURE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How the main parts fit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A conceptual view of information moving through FresherFlow.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09/11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64008" cy="91440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947672"/>
            <a:ext cx="2084831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STUDENT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231136"/>
            <a:ext cx="20756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50" b="0">
                <a:solidFill>
                  <a:srgbClr val="3E4962"/>
                </a:solidFill>
                <a:latin typeface="Aptos"/>
              </a:rPr>
              <a:t>Education • Skills • Resume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7560"/>
            <a:ext cx="64008" cy="91440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410712"/>
            <a:ext cx="2084831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VACANCY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694176"/>
            <a:ext cx="20756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19" b="0">
                <a:solidFill>
                  <a:srgbClr val="3E4962"/>
                </a:solidFill>
                <a:latin typeface="Aptos"/>
              </a:rPr>
              <a:t>Role • Type • Location • Skills • 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06040"/>
            <a:ext cx="2743200" cy="105156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606040"/>
            <a:ext cx="64008" cy="105156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2679192"/>
            <a:ext cx="24963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41"/>
                </a:solidFill>
                <a:latin typeface="Aptos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2962656"/>
            <a:ext cx="2487168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50" b="0">
                <a:solidFill>
                  <a:srgbClr val="3E4962"/>
                </a:solidFill>
                <a:latin typeface="Aptos"/>
              </a:rPr>
              <a:t>Connects a student to a vacancy; records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874519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874519"/>
            <a:ext cx="64008" cy="914400"/>
          </a:xfrm>
          <a:prstGeom prst="rect">
            <a:avLst/>
          </a:prstGeom>
          <a:solidFill>
            <a:srgbClr val="D0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1947672"/>
            <a:ext cx="2084831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EMPLOYER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231136"/>
            <a:ext cx="20756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19" b="0">
                <a:solidFill>
                  <a:srgbClr val="3E4962"/>
                </a:solidFill>
                <a:latin typeface="Aptos"/>
              </a:rPr>
              <a:t>Owns vacancies and reviews applicants.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33756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3337560"/>
            <a:ext cx="64008" cy="914400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3410712"/>
            <a:ext cx="2084831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2641"/>
                </a:solidFill>
                <a:latin typeface="Aptos"/>
              </a:rPr>
              <a:t>ADMIN MODERATION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694176"/>
            <a:ext cx="2075687" cy="5212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819" b="0">
                <a:solidFill>
                  <a:srgbClr val="3E4962"/>
                </a:solidFill>
                <a:latin typeface="Aptos"/>
              </a:rPr>
              <a:t>Controls vacancy approval and employer access.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54680" y="2331720"/>
            <a:ext cx="1371600" cy="457200"/>
          </a:xfrm>
          <a:prstGeom prst="line">
            <a:avLst/>
          </a:prstGeom>
          <a:ln w="22860">
            <a:solidFill>
              <a:srgbClr val="3F7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01568" y="2432303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244602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3F7CDE"/>
                </a:solidFill>
                <a:latin typeface="Aptos"/>
              </a:rPr>
              <a:t>submits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154680" y="3429000"/>
            <a:ext cx="1371600" cy="274320"/>
          </a:xfrm>
          <a:prstGeom prst="line">
            <a:avLst/>
          </a:prstGeom>
          <a:ln w="22860">
            <a:solidFill>
              <a:srgbClr val="2DA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01568" y="3438144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45186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2DAE89"/>
                </a:solidFill>
                <a:latin typeface="Aptos"/>
              </a:rPr>
              <a:t>receives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360920" y="2331720"/>
            <a:ext cx="1600200" cy="457200"/>
          </a:xfrm>
          <a:prstGeom prst="line">
            <a:avLst/>
          </a:prstGeom>
          <a:ln w="22860">
            <a:solidFill>
              <a:srgbClr val="D09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22108" y="2432303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9540" y="244602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D0912A"/>
                </a:solidFill>
                <a:latin typeface="Aptos"/>
              </a:rPr>
              <a:t>review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60920" y="3429000"/>
            <a:ext cx="1600200" cy="274320"/>
          </a:xfrm>
          <a:prstGeom prst="line">
            <a:avLst/>
          </a:prstGeom>
          <a:ln w="22860">
            <a:solidFill>
              <a:srgbClr val="CD5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722108" y="3438144"/>
            <a:ext cx="877824" cy="228600"/>
          </a:xfrm>
          <a:prstGeom prst="roundRect">
            <a:avLst>
              <a:gd name="adj" fmla="val 9000"/>
            </a:avLst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9540" y="3451860"/>
            <a:ext cx="822960" cy="19202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CD5D63"/>
                </a:solidFill>
                <a:latin typeface="Aptos"/>
              </a:rPr>
              <a:t>governs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74519" y="4892040"/>
            <a:ext cx="8458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020056"/>
            <a:ext cx="809244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40" b="1">
                <a:solidFill>
                  <a:srgbClr val="1C2641"/>
                </a:solidFill>
                <a:latin typeface="Aptos"/>
              </a:rPr>
              <a:t>Resume files are validated on upload and delivered through private downloads—not as public job-listing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TRUST &amp;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Several layers protect platform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Security controls support safe access, uploads, sessions, and vacancy governance.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10/11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74519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74519"/>
            <a:ext cx="64008" cy="82296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1947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231136"/>
            <a:ext cx="216712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Role-protected workspaces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874519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1874519"/>
            <a:ext cx="64008" cy="82296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1947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ACCOUNT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231136"/>
            <a:ext cx="216712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Password hashing + login throttling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74519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874519"/>
            <a:ext cx="64008" cy="82296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947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REQUEST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231136"/>
            <a:ext cx="216712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CSRF checks on POST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874519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FFF7E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874519"/>
            <a:ext cx="64008" cy="822960"/>
          </a:xfrm>
          <a:prstGeom prst="rect">
            <a:avLst/>
          </a:prstGeom>
          <a:solidFill>
            <a:srgbClr val="D0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1947672"/>
            <a:ext cx="217627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SESSION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4" y="2231136"/>
            <a:ext cx="216712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Secure cookie settings in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3657600"/>
            <a:ext cx="2926080" cy="822960"/>
          </a:xfrm>
          <a:prstGeom prst="roundRect">
            <a:avLst>
              <a:gd name="adj" fmla="val 9000"/>
            </a:avLst>
          </a:prstGeom>
          <a:solidFill>
            <a:srgbClr val="FFEDEE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4560" y="3657600"/>
            <a:ext cx="64008" cy="822960"/>
          </a:xfrm>
          <a:prstGeom prst="rect">
            <a:avLst/>
          </a:prstGeom>
          <a:solidFill>
            <a:srgbClr val="CD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864" y="3730752"/>
            <a:ext cx="26791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UPLOAD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0864" y="4014215"/>
            <a:ext cx="267004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File type, size and content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657600"/>
            <a:ext cx="2926080" cy="82296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3657600"/>
            <a:ext cx="64008" cy="82296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3730752"/>
            <a:ext cx="267919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30" b="1">
                <a:solidFill>
                  <a:srgbClr val="1C2641"/>
                </a:solidFill>
                <a:latin typeface="Aptos"/>
              </a:rPr>
              <a:t>CONTENT / RESPONSE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4014215"/>
            <a:ext cx="2670048" cy="4297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780" b="0">
                <a:solidFill>
                  <a:srgbClr val="3E4962"/>
                </a:solidFill>
                <a:latin typeface="Aptos"/>
              </a:rPr>
              <a:t>Security headers and no-store responses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5074920"/>
            <a:ext cx="342900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157216"/>
            <a:ext cx="3154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635BF5"/>
                </a:solidFill>
                <a:latin typeface="Aptos"/>
              </a:rPr>
              <a:t>Safer access to platform actions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57400" y="2724912"/>
            <a:ext cx="4023360" cy="230428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09160" y="2724912"/>
            <a:ext cx="1371600" cy="230428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80760" y="2724912"/>
            <a:ext cx="1280160" cy="230428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080760" y="2724912"/>
            <a:ext cx="3931920" cy="230428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57600" y="4507992"/>
            <a:ext cx="2423160" cy="52120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080760" y="4507992"/>
            <a:ext cx="2468880" cy="521208"/>
          </a:xfrm>
          <a:prstGeom prst="line">
            <a:avLst/>
          </a:prstGeom>
          <a:ln w="1270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92840" y="-475488"/>
            <a:ext cx="1371600" cy="1371600"/>
          </a:xfrm>
          <a:prstGeom prst="ellipse">
            <a:avLst/>
          </a:prstGeom>
          <a:noFill/>
          <a:ln w="1524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3108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4612"/>
            <a:ext cx="1801367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635BF5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94944"/>
            <a:ext cx="1088136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2641"/>
                </a:solidFill>
                <a:latin typeface="Aptos Display"/>
              </a:rPr>
              <a:t>A connected workflow for early-career hiring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7C879B"/>
                </a:solidFill>
                <a:latin typeface="Aptos"/>
              </a:rPr>
              <a:t>FresherFlow brings opportunity discovery, hiring review, and application visibility into one platform.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DE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680" b="0">
                <a:solidFill>
                  <a:srgbClr val="7C879B"/>
                </a:solidFill>
                <a:latin typeface="Aptos"/>
              </a:rPr>
              <a:t>FRESHERFLOW  ·  PLATFORM CONCEPT &amp; WORKFLOWS  ·  github.com/deathkernel/FresherFlow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66928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700" b="1">
                <a:solidFill>
                  <a:srgbClr val="7C879B"/>
                </a:solidFill>
                <a:latin typeface="Aptos"/>
              </a:rPr>
              <a:t>11/11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00400" cy="1234440"/>
          </a:xfrm>
          <a:prstGeom prst="roundRect">
            <a:avLst>
              <a:gd name="adj" fmla="val 9000"/>
            </a:avLst>
          </a:prstGeom>
          <a:solidFill>
            <a:srgbClr val="E8F1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65960"/>
            <a:ext cx="64008" cy="1234440"/>
          </a:xfrm>
          <a:prstGeom prst="rect">
            <a:avLst/>
          </a:prstGeom>
          <a:solidFill>
            <a:srgbClr val="3F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039112"/>
            <a:ext cx="2953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322576"/>
            <a:ext cx="2944368" cy="8412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Students search internships and entry-level jobs, save roles, and apply.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965960"/>
            <a:ext cx="3200400" cy="1234440"/>
          </a:xfrm>
          <a:prstGeom prst="roundRect">
            <a:avLst>
              <a:gd name="adj" fmla="val 9000"/>
            </a:avLst>
          </a:prstGeom>
          <a:solidFill>
            <a:srgbClr val="E5F8F1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965960"/>
            <a:ext cx="64008" cy="1234440"/>
          </a:xfrm>
          <a:prstGeom prst="rect">
            <a:avLst/>
          </a:prstGeom>
          <a:solidFill>
            <a:srgbClr val="2DA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039112"/>
            <a:ext cx="2953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HIRE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22576"/>
            <a:ext cx="2944368" cy="8412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Employers create vacancies, import batches, and review applications.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965960"/>
            <a:ext cx="3200400" cy="1234440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965960"/>
            <a:ext cx="64008" cy="1234440"/>
          </a:xfrm>
          <a:prstGeom prst="rect">
            <a:avLst/>
          </a:prstGeom>
          <a:solidFill>
            <a:srgbClr val="635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39112"/>
            <a:ext cx="2953512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641"/>
                </a:solidFill>
                <a:latin typeface="Aptos"/>
              </a:rPr>
              <a:t>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22576"/>
            <a:ext cx="2944368" cy="8412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3E4962"/>
                </a:solidFill>
                <a:latin typeface="Aptos"/>
              </a:rPr>
              <a:t>Admins moderate vacancies and manage employer access.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87368" y="2587752"/>
            <a:ext cx="374904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7536" y="2587752"/>
            <a:ext cx="374904" cy="0"/>
          </a:xfrm>
          <a:prstGeom prst="line">
            <a:avLst/>
          </a:prstGeom>
          <a:ln w="22860">
            <a:solidFill>
              <a:srgbClr val="635B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3886200"/>
            <a:ext cx="10332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041648"/>
            <a:ext cx="987552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C2641"/>
                </a:solidFill>
                <a:latin typeface="Aptos"/>
              </a:rPr>
              <a:t>Current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70832"/>
            <a:ext cx="969264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E4962"/>
                </a:solidFill>
                <a:latin typeface="Aptos"/>
              </a:rPr>
              <a:t>Internships • Entry-level jobs • Student profile &amp; resume • Vacancy moderation • Application tracking • Employer hiring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166360"/>
            <a:ext cx="10332720" cy="621792"/>
          </a:xfrm>
          <a:prstGeom prst="roundRect">
            <a:avLst>
              <a:gd name="adj" fmla="val 9000"/>
            </a:avLst>
          </a:prstGeom>
          <a:solidFill>
            <a:srgbClr val="EF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294376"/>
            <a:ext cx="996696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635BF5"/>
                </a:solidFill>
                <a:latin typeface="Aptos"/>
              </a:rPr>
              <a:t>The story of FresherFlow is not just finding a job—it is organizing the path from vacancy to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33272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7C879B"/>
                </a:solidFill>
                <a:latin typeface="Aptos"/>
              </a:rPr>
              <a:t>Source of truth: deathkernel/FresherFlow repository (main branch). No usage or impact statistics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FresherFlow — Concept and Workflow Diagrams</dc:title>
  <dc:subject>Diagram-led explanation of website purpose, user journeys, workflows and safeguards</dc:subject>
  <dc:creator>OpenAI</dc:creator>
  <cp:keywords>FresherFlow, workflow, diagrams, platform overview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